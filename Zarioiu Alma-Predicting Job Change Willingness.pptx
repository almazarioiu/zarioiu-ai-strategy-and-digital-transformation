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7" r:id="rId4"/>
    <p:sldId id="258" r:id="rId5"/>
    <p:sldId id="268" r:id="rId6"/>
    <p:sldId id="269" r:id="rId7"/>
    <p:sldId id="259" r:id="rId8"/>
    <p:sldId id="260" r:id="rId9"/>
    <p:sldId id="270" r:id="rId10"/>
    <p:sldId id="261" r:id="rId11"/>
    <p:sldId id="262" r:id="rId12"/>
    <p:sldId id="263" r:id="rId13"/>
    <p:sldId id="271" r:id="rId14"/>
    <p:sldId id="272" r:id="rId15"/>
    <p:sldId id="273" r:id="rId16"/>
    <p:sldId id="264" r:id="rId17"/>
    <p:sldId id="274" r:id="rId18"/>
    <p:sldId id="265" r:id="rId19"/>
    <p:sldId id="275" r:id="rId20"/>
    <p:sldId id="276" r:id="rId21"/>
    <p:sldId id="277" r:id="rId22"/>
    <p:sldId id="278" r:id="rId23"/>
    <p:sldId id="266" r:id="rId2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95"/>
    <p:restoredTop sz="94704"/>
  </p:normalViewPr>
  <p:slideViewPr>
    <p:cSldViewPr>
      <p:cViewPr>
        <p:scale>
          <a:sx n="55" d="100"/>
          <a:sy n="55" d="100"/>
        </p:scale>
        <p:origin x="1920" y="10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8287997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4383"/>
            <a:ext cx="16256272" cy="2164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418608"/>
            <a:ext cx="7816215" cy="6424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61682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71800" y="4145573"/>
            <a:ext cx="12701270" cy="971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</a:t>
            </a:r>
            <a:r>
              <a:rPr sz="6200" spc="-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2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</a:t>
            </a:r>
            <a:r>
              <a:rPr sz="6200" spc="-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2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sz="6200" spc="-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Willingness</a:t>
            </a:r>
            <a:endParaRPr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2100" y="5510883"/>
            <a:ext cx="7543800" cy="11028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o-RO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ZARIOIU  ALMA-ȘTEFANA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o-RO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of Business </a:t>
            </a:r>
            <a:r>
              <a:rPr lang="ro-RO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endParaRPr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8287997" cy="1028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24379"/>
            <a:ext cx="11548416" cy="101626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0" y="4383"/>
            <a:ext cx="16256272" cy="2075020"/>
          </a:xfrm>
          <a:prstGeom prst="rect">
            <a:avLst/>
          </a:prstGeom>
        </p:spPr>
        <p:txBody>
          <a:bodyPr vert="horz" wrap="square" lIns="0" tIns="972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7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4594" y="4088796"/>
            <a:ext cx="114300" cy="114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38994" y="3275043"/>
            <a:ext cx="15254412" cy="2600712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report presents a comprehensive machine learning analysis for predicting employee</a:t>
            </a:r>
          </a:p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change intentions. The project was completed as part of the AI Strategy and Digital</a:t>
            </a:r>
          </a:p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course, focusing on applying advanced classification techniques to solve a</a:t>
            </a:r>
          </a:p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HR analytics problem.</a:t>
            </a:r>
          </a:p>
          <a:p>
            <a:pPr marL="12700" algn="just">
              <a:lnSpc>
                <a:spcPct val="100000"/>
              </a:lnSpc>
              <a:spcBef>
                <a:spcPts val="680"/>
              </a:spcBef>
            </a:pPr>
            <a:endParaRPr sz="29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6157" y="1586482"/>
            <a:ext cx="1049273" cy="104927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0306470-7B78-BED2-62E9-8EBAB82872B0}"/>
              </a:ext>
            </a:extLst>
          </p:cNvPr>
          <p:cNvSpPr txBox="1"/>
          <p:nvPr/>
        </p:nvSpPr>
        <p:spPr>
          <a:xfrm>
            <a:off x="4347308" y="6570727"/>
            <a:ext cx="9237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https://github.com/almazarioiu/Zarioiu-AI-Strategy-and-Digital-Transformation.git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C74990-2CE3-0F41-7348-0BFA1CE4B0E6}"/>
              </a:ext>
            </a:extLst>
          </p:cNvPr>
          <p:cNvSpPr txBox="1"/>
          <p:nvPr/>
        </p:nvSpPr>
        <p:spPr>
          <a:xfrm>
            <a:off x="1371600" y="419100"/>
            <a:ext cx="579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Used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39B4464-D9FE-A29E-10A3-58E77B288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3617010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RO" altLang="en-RO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RO" altLang="en-RO" sz="1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 descr="A blue and white table with text&#10;&#10;AI-generated content may be incorrect.">
            <a:extLst>
              <a:ext uri="{FF2B5EF4-FFF2-40B4-BE49-F238E27FC236}">
                <a16:creationId xmlns:a16="http://schemas.microsoft.com/office/drawing/2014/main" id="{F6F81BA6-E407-8811-C3FC-A070057D0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2400300"/>
            <a:ext cx="162560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2667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8287997" cy="1028699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28636" y="114849"/>
            <a:ext cx="14514224" cy="10533202"/>
            <a:chOff x="3773774" y="-246263"/>
            <a:chExt cx="14514224" cy="10533202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4" y="0"/>
              <a:ext cx="14514224" cy="102869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30886" y="-246263"/>
              <a:ext cx="914399" cy="89534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220978" y="6129209"/>
            <a:ext cx="546100" cy="1174750"/>
          </a:xfrm>
          <a:custGeom>
            <a:avLst/>
            <a:gdLst/>
            <a:ahLst/>
            <a:cxnLst/>
            <a:rect l="l" t="t" r="r" b="b"/>
            <a:pathLst>
              <a:path w="546100" h="1174750">
                <a:moveTo>
                  <a:pt x="65849" y="204533"/>
                </a:moveTo>
                <a:lnTo>
                  <a:pt x="63881" y="203174"/>
                </a:lnTo>
                <a:lnTo>
                  <a:pt x="64947" y="205651"/>
                </a:lnTo>
                <a:lnTo>
                  <a:pt x="65849" y="204533"/>
                </a:lnTo>
                <a:close/>
              </a:path>
              <a:path w="546100" h="1174750">
                <a:moveTo>
                  <a:pt x="101917" y="607822"/>
                </a:moveTo>
                <a:lnTo>
                  <a:pt x="95719" y="599884"/>
                </a:lnTo>
                <a:lnTo>
                  <a:pt x="100825" y="611682"/>
                </a:lnTo>
                <a:lnTo>
                  <a:pt x="101917" y="607822"/>
                </a:lnTo>
                <a:close/>
              </a:path>
              <a:path w="546100" h="1174750">
                <a:moveTo>
                  <a:pt x="107124" y="626262"/>
                </a:moveTo>
                <a:lnTo>
                  <a:pt x="106654" y="621969"/>
                </a:lnTo>
                <a:lnTo>
                  <a:pt x="103479" y="617816"/>
                </a:lnTo>
                <a:lnTo>
                  <a:pt x="107124" y="626262"/>
                </a:lnTo>
                <a:close/>
              </a:path>
              <a:path w="546100" h="1174750">
                <a:moveTo>
                  <a:pt x="545934" y="1112913"/>
                </a:moveTo>
                <a:lnTo>
                  <a:pt x="542861" y="1105789"/>
                </a:lnTo>
                <a:lnTo>
                  <a:pt x="538683" y="1099337"/>
                </a:lnTo>
                <a:lnTo>
                  <a:pt x="531990" y="1083856"/>
                </a:lnTo>
                <a:lnTo>
                  <a:pt x="524129" y="1068895"/>
                </a:lnTo>
                <a:lnTo>
                  <a:pt x="509574" y="1038453"/>
                </a:lnTo>
                <a:lnTo>
                  <a:pt x="510120" y="1036497"/>
                </a:lnTo>
                <a:lnTo>
                  <a:pt x="510044" y="1033119"/>
                </a:lnTo>
                <a:lnTo>
                  <a:pt x="504990" y="1024636"/>
                </a:lnTo>
                <a:lnTo>
                  <a:pt x="505536" y="1022718"/>
                </a:lnTo>
                <a:lnTo>
                  <a:pt x="505485" y="1019378"/>
                </a:lnTo>
                <a:lnTo>
                  <a:pt x="500405" y="1010856"/>
                </a:lnTo>
                <a:lnTo>
                  <a:pt x="500799" y="1008545"/>
                </a:lnTo>
                <a:lnTo>
                  <a:pt x="501573" y="1007135"/>
                </a:lnTo>
                <a:lnTo>
                  <a:pt x="498944" y="1004277"/>
                </a:lnTo>
                <a:lnTo>
                  <a:pt x="483666" y="933742"/>
                </a:lnTo>
                <a:lnTo>
                  <a:pt x="478917" y="865187"/>
                </a:lnTo>
                <a:lnTo>
                  <a:pt x="479983" y="861263"/>
                </a:lnTo>
                <a:lnTo>
                  <a:pt x="478675" y="858253"/>
                </a:lnTo>
                <a:lnTo>
                  <a:pt x="478561" y="854773"/>
                </a:lnTo>
                <a:lnTo>
                  <a:pt x="478205" y="850760"/>
                </a:lnTo>
                <a:lnTo>
                  <a:pt x="478815" y="845756"/>
                </a:lnTo>
                <a:lnTo>
                  <a:pt x="470852" y="843368"/>
                </a:lnTo>
                <a:lnTo>
                  <a:pt x="466445" y="845972"/>
                </a:lnTo>
                <a:lnTo>
                  <a:pt x="464921" y="848842"/>
                </a:lnTo>
                <a:lnTo>
                  <a:pt x="460121" y="856932"/>
                </a:lnTo>
                <a:lnTo>
                  <a:pt x="453542" y="864108"/>
                </a:lnTo>
                <a:lnTo>
                  <a:pt x="446874" y="871093"/>
                </a:lnTo>
                <a:lnTo>
                  <a:pt x="440639" y="879081"/>
                </a:lnTo>
                <a:lnTo>
                  <a:pt x="437362" y="884275"/>
                </a:lnTo>
                <a:lnTo>
                  <a:pt x="437045" y="889952"/>
                </a:lnTo>
                <a:lnTo>
                  <a:pt x="436778" y="895743"/>
                </a:lnTo>
                <a:lnTo>
                  <a:pt x="434949" y="929894"/>
                </a:lnTo>
                <a:lnTo>
                  <a:pt x="435813" y="963879"/>
                </a:lnTo>
                <a:lnTo>
                  <a:pt x="439331" y="997597"/>
                </a:lnTo>
                <a:lnTo>
                  <a:pt x="445452" y="1030960"/>
                </a:lnTo>
                <a:lnTo>
                  <a:pt x="445858" y="1035100"/>
                </a:lnTo>
                <a:lnTo>
                  <a:pt x="447535" y="1038961"/>
                </a:lnTo>
                <a:lnTo>
                  <a:pt x="447167" y="1047724"/>
                </a:lnTo>
                <a:lnTo>
                  <a:pt x="443204" y="1048131"/>
                </a:lnTo>
                <a:lnTo>
                  <a:pt x="440029" y="1047191"/>
                </a:lnTo>
                <a:lnTo>
                  <a:pt x="438188" y="1042949"/>
                </a:lnTo>
                <a:lnTo>
                  <a:pt x="435724" y="1040447"/>
                </a:lnTo>
                <a:lnTo>
                  <a:pt x="431380" y="1040015"/>
                </a:lnTo>
                <a:lnTo>
                  <a:pt x="426859" y="1032751"/>
                </a:lnTo>
                <a:lnTo>
                  <a:pt x="421335" y="1032776"/>
                </a:lnTo>
                <a:lnTo>
                  <a:pt x="422084" y="1031303"/>
                </a:lnTo>
                <a:lnTo>
                  <a:pt x="420636" y="1031176"/>
                </a:lnTo>
                <a:lnTo>
                  <a:pt x="418884" y="1027099"/>
                </a:lnTo>
                <a:lnTo>
                  <a:pt x="416204" y="1024128"/>
                </a:lnTo>
                <a:lnTo>
                  <a:pt x="411835" y="1023607"/>
                </a:lnTo>
                <a:lnTo>
                  <a:pt x="409562" y="1021562"/>
                </a:lnTo>
                <a:lnTo>
                  <a:pt x="408406" y="1018895"/>
                </a:lnTo>
                <a:lnTo>
                  <a:pt x="370687" y="986066"/>
                </a:lnTo>
                <a:lnTo>
                  <a:pt x="336283" y="954519"/>
                </a:lnTo>
                <a:lnTo>
                  <a:pt x="274916" y="895807"/>
                </a:lnTo>
                <a:lnTo>
                  <a:pt x="265645" y="883970"/>
                </a:lnTo>
                <a:lnTo>
                  <a:pt x="260489" y="878446"/>
                </a:lnTo>
                <a:lnTo>
                  <a:pt x="225717" y="836447"/>
                </a:lnTo>
                <a:lnTo>
                  <a:pt x="193014" y="792848"/>
                </a:lnTo>
                <a:lnTo>
                  <a:pt x="164719" y="746620"/>
                </a:lnTo>
                <a:lnTo>
                  <a:pt x="130721" y="680821"/>
                </a:lnTo>
                <a:lnTo>
                  <a:pt x="115214" y="644944"/>
                </a:lnTo>
                <a:lnTo>
                  <a:pt x="106286" y="627519"/>
                </a:lnTo>
                <a:lnTo>
                  <a:pt x="107124" y="626262"/>
                </a:lnTo>
                <a:lnTo>
                  <a:pt x="95719" y="599884"/>
                </a:lnTo>
                <a:lnTo>
                  <a:pt x="96037" y="597433"/>
                </a:lnTo>
                <a:lnTo>
                  <a:pt x="96354" y="594969"/>
                </a:lnTo>
                <a:lnTo>
                  <a:pt x="94526" y="590727"/>
                </a:lnTo>
                <a:lnTo>
                  <a:pt x="91541" y="587057"/>
                </a:lnTo>
                <a:lnTo>
                  <a:pt x="92837" y="583615"/>
                </a:lnTo>
                <a:lnTo>
                  <a:pt x="91681" y="580948"/>
                </a:lnTo>
                <a:lnTo>
                  <a:pt x="89319" y="578688"/>
                </a:lnTo>
                <a:lnTo>
                  <a:pt x="89674" y="576326"/>
                </a:lnTo>
                <a:lnTo>
                  <a:pt x="88087" y="575868"/>
                </a:lnTo>
                <a:lnTo>
                  <a:pt x="88557" y="573722"/>
                </a:lnTo>
                <a:lnTo>
                  <a:pt x="89242" y="572135"/>
                </a:lnTo>
                <a:lnTo>
                  <a:pt x="86626" y="569290"/>
                </a:lnTo>
                <a:lnTo>
                  <a:pt x="86474" y="565734"/>
                </a:lnTo>
                <a:lnTo>
                  <a:pt x="78955" y="541921"/>
                </a:lnTo>
                <a:lnTo>
                  <a:pt x="73850" y="517334"/>
                </a:lnTo>
                <a:lnTo>
                  <a:pt x="72110" y="516534"/>
                </a:lnTo>
                <a:lnTo>
                  <a:pt x="69062" y="512660"/>
                </a:lnTo>
                <a:lnTo>
                  <a:pt x="69037" y="519023"/>
                </a:lnTo>
                <a:lnTo>
                  <a:pt x="69418" y="523087"/>
                </a:lnTo>
                <a:lnTo>
                  <a:pt x="68338" y="523798"/>
                </a:lnTo>
                <a:lnTo>
                  <a:pt x="66751" y="523328"/>
                </a:lnTo>
                <a:lnTo>
                  <a:pt x="65227" y="522986"/>
                </a:lnTo>
                <a:lnTo>
                  <a:pt x="78600" y="553923"/>
                </a:lnTo>
                <a:lnTo>
                  <a:pt x="64465" y="521246"/>
                </a:lnTo>
                <a:lnTo>
                  <a:pt x="62750" y="520484"/>
                </a:lnTo>
                <a:lnTo>
                  <a:pt x="51168" y="442518"/>
                </a:lnTo>
                <a:lnTo>
                  <a:pt x="48056" y="403339"/>
                </a:lnTo>
                <a:lnTo>
                  <a:pt x="46304" y="364083"/>
                </a:lnTo>
                <a:lnTo>
                  <a:pt x="54000" y="263525"/>
                </a:lnTo>
                <a:lnTo>
                  <a:pt x="54470" y="261404"/>
                </a:lnTo>
                <a:lnTo>
                  <a:pt x="55435" y="260426"/>
                </a:lnTo>
                <a:lnTo>
                  <a:pt x="55143" y="259753"/>
                </a:lnTo>
                <a:lnTo>
                  <a:pt x="55943" y="258394"/>
                </a:lnTo>
                <a:lnTo>
                  <a:pt x="55092" y="256451"/>
                </a:lnTo>
                <a:lnTo>
                  <a:pt x="55930" y="255181"/>
                </a:lnTo>
                <a:lnTo>
                  <a:pt x="56527" y="253365"/>
                </a:lnTo>
                <a:lnTo>
                  <a:pt x="55753" y="251587"/>
                </a:lnTo>
                <a:lnTo>
                  <a:pt x="56616" y="250355"/>
                </a:lnTo>
                <a:lnTo>
                  <a:pt x="57213" y="248539"/>
                </a:lnTo>
                <a:lnTo>
                  <a:pt x="56413" y="246710"/>
                </a:lnTo>
                <a:lnTo>
                  <a:pt x="58458" y="245033"/>
                </a:lnTo>
                <a:lnTo>
                  <a:pt x="57086" y="241846"/>
                </a:lnTo>
                <a:lnTo>
                  <a:pt x="57950" y="240665"/>
                </a:lnTo>
                <a:lnTo>
                  <a:pt x="58572" y="238887"/>
                </a:lnTo>
                <a:lnTo>
                  <a:pt x="57759" y="237020"/>
                </a:lnTo>
                <a:lnTo>
                  <a:pt x="59817" y="235381"/>
                </a:lnTo>
                <a:lnTo>
                  <a:pt x="58458" y="232244"/>
                </a:lnTo>
                <a:lnTo>
                  <a:pt x="60515" y="230593"/>
                </a:lnTo>
                <a:lnTo>
                  <a:pt x="58991" y="227101"/>
                </a:lnTo>
                <a:lnTo>
                  <a:pt x="59143" y="227418"/>
                </a:lnTo>
                <a:lnTo>
                  <a:pt x="59436" y="226707"/>
                </a:lnTo>
                <a:lnTo>
                  <a:pt x="60325" y="225907"/>
                </a:lnTo>
                <a:lnTo>
                  <a:pt x="60591" y="224320"/>
                </a:lnTo>
                <a:lnTo>
                  <a:pt x="60452" y="224040"/>
                </a:lnTo>
                <a:lnTo>
                  <a:pt x="61061" y="222262"/>
                </a:lnTo>
                <a:lnTo>
                  <a:pt x="54317" y="206679"/>
                </a:lnTo>
                <a:lnTo>
                  <a:pt x="54317" y="261061"/>
                </a:lnTo>
                <a:lnTo>
                  <a:pt x="52959" y="261099"/>
                </a:lnTo>
                <a:lnTo>
                  <a:pt x="54279" y="260972"/>
                </a:lnTo>
                <a:lnTo>
                  <a:pt x="54317" y="206679"/>
                </a:lnTo>
                <a:lnTo>
                  <a:pt x="54254" y="206527"/>
                </a:lnTo>
                <a:lnTo>
                  <a:pt x="53238" y="207378"/>
                </a:lnTo>
                <a:lnTo>
                  <a:pt x="54165" y="206324"/>
                </a:lnTo>
                <a:lnTo>
                  <a:pt x="53098" y="207035"/>
                </a:lnTo>
                <a:lnTo>
                  <a:pt x="53162" y="207213"/>
                </a:lnTo>
                <a:lnTo>
                  <a:pt x="53073" y="207010"/>
                </a:lnTo>
                <a:lnTo>
                  <a:pt x="53073" y="210223"/>
                </a:lnTo>
                <a:lnTo>
                  <a:pt x="52044" y="211010"/>
                </a:lnTo>
                <a:lnTo>
                  <a:pt x="52959" y="209918"/>
                </a:lnTo>
                <a:lnTo>
                  <a:pt x="53073" y="210223"/>
                </a:lnTo>
                <a:lnTo>
                  <a:pt x="53073" y="207010"/>
                </a:lnTo>
                <a:lnTo>
                  <a:pt x="52781" y="206311"/>
                </a:lnTo>
                <a:lnTo>
                  <a:pt x="54114" y="206197"/>
                </a:lnTo>
                <a:lnTo>
                  <a:pt x="54165" y="206324"/>
                </a:lnTo>
                <a:lnTo>
                  <a:pt x="54254" y="206527"/>
                </a:lnTo>
                <a:lnTo>
                  <a:pt x="61010" y="222135"/>
                </a:lnTo>
                <a:lnTo>
                  <a:pt x="61912" y="221030"/>
                </a:lnTo>
                <a:lnTo>
                  <a:pt x="62572" y="219341"/>
                </a:lnTo>
                <a:lnTo>
                  <a:pt x="61709" y="217347"/>
                </a:lnTo>
                <a:lnTo>
                  <a:pt x="62611" y="216255"/>
                </a:lnTo>
                <a:lnTo>
                  <a:pt x="63271" y="214566"/>
                </a:lnTo>
                <a:lnTo>
                  <a:pt x="62407" y="212572"/>
                </a:lnTo>
                <a:lnTo>
                  <a:pt x="63334" y="211518"/>
                </a:lnTo>
                <a:lnTo>
                  <a:pt x="63969" y="209778"/>
                </a:lnTo>
                <a:lnTo>
                  <a:pt x="63119" y="207835"/>
                </a:lnTo>
                <a:lnTo>
                  <a:pt x="65214" y="206273"/>
                </a:lnTo>
                <a:lnTo>
                  <a:pt x="63881" y="203174"/>
                </a:lnTo>
                <a:lnTo>
                  <a:pt x="65938" y="201536"/>
                </a:lnTo>
                <a:lnTo>
                  <a:pt x="66573" y="199796"/>
                </a:lnTo>
                <a:lnTo>
                  <a:pt x="65760" y="197929"/>
                </a:lnTo>
                <a:lnTo>
                  <a:pt x="77343" y="154317"/>
                </a:lnTo>
                <a:lnTo>
                  <a:pt x="77774" y="145732"/>
                </a:lnTo>
                <a:lnTo>
                  <a:pt x="81495" y="138328"/>
                </a:lnTo>
                <a:lnTo>
                  <a:pt x="83794" y="130848"/>
                </a:lnTo>
                <a:lnTo>
                  <a:pt x="83858" y="131013"/>
                </a:lnTo>
                <a:lnTo>
                  <a:pt x="85217" y="130937"/>
                </a:lnTo>
                <a:lnTo>
                  <a:pt x="88061" y="131114"/>
                </a:lnTo>
                <a:lnTo>
                  <a:pt x="89014" y="133324"/>
                </a:lnTo>
                <a:lnTo>
                  <a:pt x="92062" y="127571"/>
                </a:lnTo>
                <a:lnTo>
                  <a:pt x="95237" y="122123"/>
                </a:lnTo>
                <a:lnTo>
                  <a:pt x="94068" y="116230"/>
                </a:lnTo>
                <a:lnTo>
                  <a:pt x="94500" y="114033"/>
                </a:lnTo>
                <a:lnTo>
                  <a:pt x="94996" y="111963"/>
                </a:lnTo>
                <a:lnTo>
                  <a:pt x="95631" y="110223"/>
                </a:lnTo>
                <a:lnTo>
                  <a:pt x="94576" y="114198"/>
                </a:lnTo>
                <a:lnTo>
                  <a:pt x="94068" y="116230"/>
                </a:lnTo>
                <a:lnTo>
                  <a:pt x="95999" y="114287"/>
                </a:lnTo>
                <a:lnTo>
                  <a:pt x="96710" y="112725"/>
                </a:lnTo>
                <a:lnTo>
                  <a:pt x="95808" y="110667"/>
                </a:lnTo>
                <a:lnTo>
                  <a:pt x="97955" y="109220"/>
                </a:lnTo>
                <a:lnTo>
                  <a:pt x="99542" y="106476"/>
                </a:lnTo>
                <a:lnTo>
                  <a:pt x="98437" y="103924"/>
                </a:lnTo>
                <a:lnTo>
                  <a:pt x="100634" y="102616"/>
                </a:lnTo>
                <a:lnTo>
                  <a:pt x="101396" y="101180"/>
                </a:lnTo>
                <a:lnTo>
                  <a:pt x="100571" y="99275"/>
                </a:lnTo>
                <a:lnTo>
                  <a:pt x="101498" y="98196"/>
                </a:lnTo>
                <a:lnTo>
                  <a:pt x="101409" y="98005"/>
                </a:lnTo>
                <a:lnTo>
                  <a:pt x="102133" y="96481"/>
                </a:lnTo>
                <a:lnTo>
                  <a:pt x="102438" y="93992"/>
                </a:lnTo>
                <a:lnTo>
                  <a:pt x="103492" y="93230"/>
                </a:lnTo>
                <a:lnTo>
                  <a:pt x="102895" y="91833"/>
                </a:lnTo>
                <a:lnTo>
                  <a:pt x="106286" y="86893"/>
                </a:lnTo>
                <a:lnTo>
                  <a:pt x="109334" y="81140"/>
                </a:lnTo>
                <a:lnTo>
                  <a:pt x="109651" y="75476"/>
                </a:lnTo>
                <a:lnTo>
                  <a:pt x="112179" y="71716"/>
                </a:lnTo>
                <a:lnTo>
                  <a:pt x="114731" y="68033"/>
                </a:lnTo>
                <a:lnTo>
                  <a:pt x="114312" y="63842"/>
                </a:lnTo>
                <a:lnTo>
                  <a:pt x="117513" y="61658"/>
                </a:lnTo>
                <a:lnTo>
                  <a:pt x="117779" y="59067"/>
                </a:lnTo>
                <a:lnTo>
                  <a:pt x="118122" y="56654"/>
                </a:lnTo>
                <a:lnTo>
                  <a:pt x="124447" y="45694"/>
                </a:lnTo>
                <a:lnTo>
                  <a:pt x="129501" y="35001"/>
                </a:lnTo>
                <a:lnTo>
                  <a:pt x="133680" y="28663"/>
                </a:lnTo>
                <a:lnTo>
                  <a:pt x="137071" y="23698"/>
                </a:lnTo>
                <a:lnTo>
                  <a:pt x="141439" y="17818"/>
                </a:lnTo>
                <a:lnTo>
                  <a:pt x="143903" y="13906"/>
                </a:lnTo>
                <a:lnTo>
                  <a:pt x="138811" y="11722"/>
                </a:lnTo>
                <a:lnTo>
                  <a:pt x="137299" y="5029"/>
                </a:lnTo>
                <a:lnTo>
                  <a:pt x="129895" y="7124"/>
                </a:lnTo>
                <a:lnTo>
                  <a:pt x="129641" y="6527"/>
                </a:lnTo>
                <a:lnTo>
                  <a:pt x="128447" y="6946"/>
                </a:lnTo>
                <a:lnTo>
                  <a:pt x="127444" y="7835"/>
                </a:lnTo>
                <a:lnTo>
                  <a:pt x="124117" y="6553"/>
                </a:lnTo>
                <a:lnTo>
                  <a:pt x="124180" y="292"/>
                </a:lnTo>
                <a:lnTo>
                  <a:pt x="119126" y="1409"/>
                </a:lnTo>
                <a:lnTo>
                  <a:pt x="111594" y="0"/>
                </a:lnTo>
                <a:lnTo>
                  <a:pt x="105435" y="1739"/>
                </a:lnTo>
                <a:lnTo>
                  <a:pt x="101333" y="4953"/>
                </a:lnTo>
                <a:lnTo>
                  <a:pt x="101333" y="94627"/>
                </a:lnTo>
                <a:lnTo>
                  <a:pt x="100291" y="95427"/>
                </a:lnTo>
                <a:lnTo>
                  <a:pt x="101295" y="94538"/>
                </a:lnTo>
                <a:lnTo>
                  <a:pt x="101333" y="4953"/>
                </a:lnTo>
                <a:lnTo>
                  <a:pt x="73558" y="46418"/>
                </a:lnTo>
                <a:lnTo>
                  <a:pt x="56337" y="83388"/>
                </a:lnTo>
                <a:lnTo>
                  <a:pt x="38696" y="128955"/>
                </a:lnTo>
                <a:lnTo>
                  <a:pt x="25298" y="174777"/>
                </a:lnTo>
                <a:lnTo>
                  <a:pt x="13817" y="221805"/>
                </a:lnTo>
                <a:lnTo>
                  <a:pt x="6565" y="269011"/>
                </a:lnTo>
                <a:lnTo>
                  <a:pt x="1181" y="317347"/>
                </a:lnTo>
                <a:lnTo>
                  <a:pt x="0" y="365785"/>
                </a:lnTo>
                <a:lnTo>
                  <a:pt x="1219" y="416610"/>
                </a:lnTo>
                <a:lnTo>
                  <a:pt x="4889" y="466686"/>
                </a:lnTo>
                <a:lnTo>
                  <a:pt x="13347" y="515023"/>
                </a:lnTo>
                <a:lnTo>
                  <a:pt x="24244" y="562597"/>
                </a:lnTo>
                <a:lnTo>
                  <a:pt x="37579" y="609434"/>
                </a:lnTo>
                <a:lnTo>
                  <a:pt x="54521" y="655002"/>
                </a:lnTo>
                <a:lnTo>
                  <a:pt x="73901" y="699808"/>
                </a:lnTo>
                <a:lnTo>
                  <a:pt x="96888" y="743343"/>
                </a:lnTo>
                <a:lnTo>
                  <a:pt x="122301" y="786104"/>
                </a:lnTo>
                <a:lnTo>
                  <a:pt x="150139" y="828078"/>
                </a:lnTo>
                <a:lnTo>
                  <a:pt x="178739" y="865403"/>
                </a:lnTo>
                <a:lnTo>
                  <a:pt x="209321" y="900925"/>
                </a:lnTo>
                <a:lnTo>
                  <a:pt x="238582" y="933386"/>
                </a:lnTo>
                <a:lnTo>
                  <a:pt x="240779" y="935253"/>
                </a:lnTo>
                <a:lnTo>
                  <a:pt x="274332" y="968044"/>
                </a:lnTo>
                <a:lnTo>
                  <a:pt x="334086" y="1022997"/>
                </a:lnTo>
                <a:lnTo>
                  <a:pt x="386537" y="1067485"/>
                </a:lnTo>
                <a:lnTo>
                  <a:pt x="417144" y="1090256"/>
                </a:lnTo>
                <a:lnTo>
                  <a:pt x="418769" y="1090815"/>
                </a:lnTo>
                <a:lnTo>
                  <a:pt x="421132" y="1096289"/>
                </a:lnTo>
                <a:lnTo>
                  <a:pt x="420497" y="1098016"/>
                </a:lnTo>
                <a:lnTo>
                  <a:pt x="418985" y="1097711"/>
                </a:lnTo>
                <a:lnTo>
                  <a:pt x="417233" y="1096860"/>
                </a:lnTo>
                <a:lnTo>
                  <a:pt x="404139" y="1095387"/>
                </a:lnTo>
                <a:lnTo>
                  <a:pt x="390677" y="1093050"/>
                </a:lnTo>
                <a:lnTo>
                  <a:pt x="378079" y="1089533"/>
                </a:lnTo>
                <a:lnTo>
                  <a:pt x="365290" y="1085557"/>
                </a:lnTo>
                <a:lnTo>
                  <a:pt x="357124" y="1082675"/>
                </a:lnTo>
                <a:lnTo>
                  <a:pt x="348005" y="1080782"/>
                </a:lnTo>
                <a:lnTo>
                  <a:pt x="339178" y="1079563"/>
                </a:lnTo>
                <a:lnTo>
                  <a:pt x="329539" y="1079677"/>
                </a:lnTo>
                <a:lnTo>
                  <a:pt x="312724" y="1076007"/>
                </a:lnTo>
                <a:lnTo>
                  <a:pt x="297268" y="1078636"/>
                </a:lnTo>
                <a:lnTo>
                  <a:pt x="284276" y="1087005"/>
                </a:lnTo>
                <a:lnTo>
                  <a:pt x="274916" y="1100543"/>
                </a:lnTo>
                <a:lnTo>
                  <a:pt x="304507" y="1124165"/>
                </a:lnTo>
                <a:lnTo>
                  <a:pt x="337680" y="1140091"/>
                </a:lnTo>
                <a:lnTo>
                  <a:pt x="372732" y="1150759"/>
                </a:lnTo>
                <a:lnTo>
                  <a:pt x="409105" y="1158049"/>
                </a:lnTo>
                <a:lnTo>
                  <a:pt x="422668" y="1160640"/>
                </a:lnTo>
                <a:lnTo>
                  <a:pt x="436346" y="1163459"/>
                </a:lnTo>
                <a:lnTo>
                  <a:pt x="448919" y="1166926"/>
                </a:lnTo>
                <a:lnTo>
                  <a:pt x="451904" y="1167422"/>
                </a:lnTo>
                <a:lnTo>
                  <a:pt x="463829" y="1169416"/>
                </a:lnTo>
                <a:lnTo>
                  <a:pt x="477405" y="1172006"/>
                </a:lnTo>
                <a:lnTo>
                  <a:pt x="477532" y="1172286"/>
                </a:lnTo>
                <a:lnTo>
                  <a:pt x="482130" y="1173340"/>
                </a:lnTo>
                <a:lnTo>
                  <a:pt x="488035" y="1174178"/>
                </a:lnTo>
                <a:lnTo>
                  <a:pt x="494626" y="1173429"/>
                </a:lnTo>
                <a:lnTo>
                  <a:pt x="501345" y="1172972"/>
                </a:lnTo>
                <a:lnTo>
                  <a:pt x="511644" y="1164780"/>
                </a:lnTo>
                <a:lnTo>
                  <a:pt x="525602" y="1149083"/>
                </a:lnTo>
                <a:lnTo>
                  <a:pt x="531317" y="1143088"/>
                </a:lnTo>
                <a:lnTo>
                  <a:pt x="535203" y="1136078"/>
                </a:lnTo>
                <a:lnTo>
                  <a:pt x="538822" y="1128471"/>
                </a:lnTo>
                <a:lnTo>
                  <a:pt x="540346" y="1125588"/>
                </a:lnTo>
                <a:lnTo>
                  <a:pt x="540689" y="1123175"/>
                </a:lnTo>
                <a:lnTo>
                  <a:pt x="539432" y="1120254"/>
                </a:lnTo>
                <a:lnTo>
                  <a:pt x="543077" y="1115910"/>
                </a:lnTo>
                <a:lnTo>
                  <a:pt x="545934" y="11129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028939" y="2554633"/>
            <a:ext cx="7667625" cy="5495925"/>
            <a:chOff x="10028939" y="2554633"/>
            <a:chExt cx="7667625" cy="5495925"/>
          </a:xfrm>
        </p:grpSpPr>
        <p:sp>
          <p:nvSpPr>
            <p:cNvPr id="8" name="object 8"/>
            <p:cNvSpPr/>
            <p:nvPr/>
          </p:nvSpPr>
          <p:spPr>
            <a:xfrm>
              <a:off x="15437726" y="3121557"/>
              <a:ext cx="659765" cy="1024890"/>
            </a:xfrm>
            <a:custGeom>
              <a:avLst/>
              <a:gdLst/>
              <a:ahLst/>
              <a:cxnLst/>
              <a:rect l="l" t="t" r="r" b="b"/>
              <a:pathLst>
                <a:path w="659765" h="1024889">
                  <a:moveTo>
                    <a:pt x="659193" y="15849"/>
                  </a:moveTo>
                  <a:lnTo>
                    <a:pt x="658253" y="15125"/>
                  </a:lnTo>
                  <a:lnTo>
                    <a:pt x="658583" y="14401"/>
                  </a:lnTo>
                  <a:lnTo>
                    <a:pt x="648665" y="6261"/>
                  </a:lnTo>
                  <a:lnTo>
                    <a:pt x="644791" y="2844"/>
                  </a:lnTo>
                  <a:lnTo>
                    <a:pt x="633095" y="101"/>
                  </a:lnTo>
                  <a:lnTo>
                    <a:pt x="625741" y="0"/>
                  </a:lnTo>
                  <a:lnTo>
                    <a:pt x="621182" y="2641"/>
                  </a:lnTo>
                  <a:lnTo>
                    <a:pt x="615657" y="6883"/>
                  </a:lnTo>
                  <a:lnTo>
                    <a:pt x="615416" y="7493"/>
                  </a:lnTo>
                  <a:lnTo>
                    <a:pt x="615175" y="7670"/>
                  </a:lnTo>
                  <a:lnTo>
                    <a:pt x="611352" y="14020"/>
                  </a:lnTo>
                  <a:lnTo>
                    <a:pt x="608609" y="21005"/>
                  </a:lnTo>
                  <a:lnTo>
                    <a:pt x="606666" y="24231"/>
                  </a:lnTo>
                  <a:lnTo>
                    <a:pt x="605142" y="26758"/>
                  </a:lnTo>
                  <a:lnTo>
                    <a:pt x="604672" y="27546"/>
                  </a:lnTo>
                  <a:lnTo>
                    <a:pt x="598970" y="41910"/>
                  </a:lnTo>
                  <a:lnTo>
                    <a:pt x="595490" y="47688"/>
                  </a:lnTo>
                  <a:lnTo>
                    <a:pt x="593445" y="54521"/>
                  </a:lnTo>
                  <a:lnTo>
                    <a:pt x="582803" y="76073"/>
                  </a:lnTo>
                  <a:lnTo>
                    <a:pt x="581914" y="79032"/>
                  </a:lnTo>
                  <a:lnTo>
                    <a:pt x="579272" y="84391"/>
                  </a:lnTo>
                  <a:lnTo>
                    <a:pt x="572884" y="98247"/>
                  </a:lnTo>
                  <a:lnTo>
                    <a:pt x="567651" y="108559"/>
                  </a:lnTo>
                  <a:lnTo>
                    <a:pt x="567042" y="110896"/>
                  </a:lnTo>
                  <a:lnTo>
                    <a:pt x="564845" y="115684"/>
                  </a:lnTo>
                  <a:lnTo>
                    <a:pt x="555510" y="137985"/>
                  </a:lnTo>
                  <a:lnTo>
                    <a:pt x="554304" y="140512"/>
                  </a:lnTo>
                  <a:lnTo>
                    <a:pt x="550405" y="146964"/>
                  </a:lnTo>
                  <a:lnTo>
                    <a:pt x="547916" y="153568"/>
                  </a:lnTo>
                  <a:lnTo>
                    <a:pt x="547433" y="154368"/>
                  </a:lnTo>
                  <a:lnTo>
                    <a:pt x="541350" y="166903"/>
                  </a:lnTo>
                  <a:lnTo>
                    <a:pt x="538848" y="173507"/>
                  </a:lnTo>
                  <a:lnTo>
                    <a:pt x="536994" y="176593"/>
                  </a:lnTo>
                  <a:lnTo>
                    <a:pt x="533222" y="182816"/>
                  </a:lnTo>
                  <a:lnTo>
                    <a:pt x="532752" y="183616"/>
                  </a:lnTo>
                  <a:lnTo>
                    <a:pt x="519899" y="217208"/>
                  </a:lnTo>
                  <a:lnTo>
                    <a:pt x="518858" y="219227"/>
                  </a:lnTo>
                  <a:lnTo>
                    <a:pt x="509028" y="237680"/>
                  </a:lnTo>
                  <a:lnTo>
                    <a:pt x="508165" y="240144"/>
                  </a:lnTo>
                  <a:lnTo>
                    <a:pt x="503377" y="249504"/>
                  </a:lnTo>
                  <a:lnTo>
                    <a:pt x="498284" y="260388"/>
                  </a:lnTo>
                  <a:lnTo>
                    <a:pt x="492620" y="269773"/>
                  </a:lnTo>
                  <a:lnTo>
                    <a:pt x="487057" y="284175"/>
                  </a:lnTo>
                  <a:lnTo>
                    <a:pt x="479552" y="298805"/>
                  </a:lnTo>
                  <a:lnTo>
                    <a:pt x="473443" y="308927"/>
                  </a:lnTo>
                  <a:lnTo>
                    <a:pt x="473329" y="309130"/>
                  </a:lnTo>
                  <a:lnTo>
                    <a:pt x="472706" y="310172"/>
                  </a:lnTo>
                  <a:lnTo>
                    <a:pt x="461416" y="331330"/>
                  </a:lnTo>
                  <a:lnTo>
                    <a:pt x="454812" y="342265"/>
                  </a:lnTo>
                  <a:lnTo>
                    <a:pt x="454063" y="345973"/>
                  </a:lnTo>
                  <a:lnTo>
                    <a:pt x="451764" y="349783"/>
                  </a:lnTo>
                  <a:lnTo>
                    <a:pt x="446493" y="363435"/>
                  </a:lnTo>
                  <a:lnTo>
                    <a:pt x="439432" y="375145"/>
                  </a:lnTo>
                  <a:lnTo>
                    <a:pt x="434035" y="381622"/>
                  </a:lnTo>
                  <a:lnTo>
                    <a:pt x="433565" y="382409"/>
                  </a:lnTo>
                  <a:lnTo>
                    <a:pt x="429945" y="388391"/>
                  </a:lnTo>
                  <a:lnTo>
                    <a:pt x="426974" y="393319"/>
                  </a:lnTo>
                  <a:lnTo>
                    <a:pt x="426224" y="394550"/>
                  </a:lnTo>
                  <a:lnTo>
                    <a:pt x="420662" y="406234"/>
                  </a:lnTo>
                  <a:lnTo>
                    <a:pt x="402132" y="436956"/>
                  </a:lnTo>
                  <a:lnTo>
                    <a:pt x="393344" y="456438"/>
                  </a:lnTo>
                  <a:lnTo>
                    <a:pt x="389483" y="462838"/>
                  </a:lnTo>
                  <a:lnTo>
                    <a:pt x="386969" y="469455"/>
                  </a:lnTo>
                  <a:lnTo>
                    <a:pt x="385127" y="472490"/>
                  </a:lnTo>
                  <a:lnTo>
                    <a:pt x="379603" y="481660"/>
                  </a:lnTo>
                  <a:lnTo>
                    <a:pt x="378853" y="482892"/>
                  </a:lnTo>
                  <a:lnTo>
                    <a:pt x="372999" y="495058"/>
                  </a:lnTo>
                  <a:lnTo>
                    <a:pt x="356755" y="521995"/>
                  </a:lnTo>
                  <a:lnTo>
                    <a:pt x="345744" y="540232"/>
                  </a:lnTo>
                  <a:lnTo>
                    <a:pt x="330314" y="563346"/>
                  </a:lnTo>
                  <a:lnTo>
                    <a:pt x="322046" y="574586"/>
                  </a:lnTo>
                  <a:lnTo>
                    <a:pt x="317754" y="581685"/>
                  </a:lnTo>
                  <a:lnTo>
                    <a:pt x="314401" y="587260"/>
                  </a:lnTo>
                  <a:lnTo>
                    <a:pt x="309486" y="592950"/>
                  </a:lnTo>
                  <a:lnTo>
                    <a:pt x="305193" y="600049"/>
                  </a:lnTo>
                  <a:lnTo>
                    <a:pt x="301320" y="606463"/>
                  </a:lnTo>
                  <a:lnTo>
                    <a:pt x="296443" y="612101"/>
                  </a:lnTo>
                  <a:lnTo>
                    <a:pt x="250532" y="688187"/>
                  </a:lnTo>
                  <a:lnTo>
                    <a:pt x="247053" y="691489"/>
                  </a:lnTo>
                  <a:lnTo>
                    <a:pt x="243713" y="697039"/>
                  </a:lnTo>
                  <a:lnTo>
                    <a:pt x="237109" y="705891"/>
                  </a:lnTo>
                  <a:lnTo>
                    <a:pt x="227533" y="716470"/>
                  </a:lnTo>
                  <a:lnTo>
                    <a:pt x="223037" y="723925"/>
                  </a:lnTo>
                  <a:lnTo>
                    <a:pt x="204457" y="754710"/>
                  </a:lnTo>
                  <a:lnTo>
                    <a:pt x="195465" y="764692"/>
                  </a:lnTo>
                  <a:lnTo>
                    <a:pt x="194373" y="766305"/>
                  </a:lnTo>
                  <a:lnTo>
                    <a:pt x="163029" y="808621"/>
                  </a:lnTo>
                  <a:lnTo>
                    <a:pt x="158851" y="815543"/>
                  </a:lnTo>
                  <a:lnTo>
                    <a:pt x="144818" y="831430"/>
                  </a:lnTo>
                  <a:lnTo>
                    <a:pt x="144360" y="832192"/>
                  </a:lnTo>
                  <a:lnTo>
                    <a:pt x="141198" y="837425"/>
                  </a:lnTo>
                  <a:lnTo>
                    <a:pt x="140309" y="838555"/>
                  </a:lnTo>
                  <a:lnTo>
                    <a:pt x="134353" y="843851"/>
                  </a:lnTo>
                  <a:lnTo>
                    <a:pt x="128219" y="854024"/>
                  </a:lnTo>
                  <a:lnTo>
                    <a:pt x="121716" y="862342"/>
                  </a:lnTo>
                  <a:lnTo>
                    <a:pt x="92989" y="895184"/>
                  </a:lnTo>
                  <a:lnTo>
                    <a:pt x="84455" y="906894"/>
                  </a:lnTo>
                  <a:lnTo>
                    <a:pt x="83985" y="907656"/>
                  </a:lnTo>
                  <a:lnTo>
                    <a:pt x="78854" y="910018"/>
                  </a:lnTo>
                  <a:lnTo>
                    <a:pt x="75057" y="907707"/>
                  </a:lnTo>
                  <a:lnTo>
                    <a:pt x="72275" y="904951"/>
                  </a:lnTo>
                  <a:lnTo>
                    <a:pt x="72136" y="902703"/>
                  </a:lnTo>
                  <a:lnTo>
                    <a:pt x="71526" y="893889"/>
                  </a:lnTo>
                  <a:lnTo>
                    <a:pt x="70002" y="884123"/>
                  </a:lnTo>
                  <a:lnTo>
                    <a:pt x="70662" y="875665"/>
                  </a:lnTo>
                  <a:lnTo>
                    <a:pt x="70040" y="866851"/>
                  </a:lnTo>
                  <a:lnTo>
                    <a:pt x="69723" y="857567"/>
                  </a:lnTo>
                  <a:lnTo>
                    <a:pt x="68148" y="838034"/>
                  </a:lnTo>
                  <a:lnTo>
                    <a:pt x="67818" y="828751"/>
                  </a:lnTo>
                  <a:lnTo>
                    <a:pt x="66078" y="816889"/>
                  </a:lnTo>
                  <a:lnTo>
                    <a:pt x="66776" y="810818"/>
                  </a:lnTo>
                  <a:lnTo>
                    <a:pt x="66370" y="801649"/>
                  </a:lnTo>
                  <a:lnTo>
                    <a:pt x="67056" y="793153"/>
                  </a:lnTo>
                  <a:lnTo>
                    <a:pt x="66649" y="783983"/>
                  </a:lnTo>
                  <a:lnTo>
                    <a:pt x="67335" y="775474"/>
                  </a:lnTo>
                  <a:lnTo>
                    <a:pt x="67208" y="760945"/>
                  </a:lnTo>
                  <a:lnTo>
                    <a:pt x="61315" y="751039"/>
                  </a:lnTo>
                  <a:lnTo>
                    <a:pt x="50914" y="743686"/>
                  </a:lnTo>
                  <a:lnTo>
                    <a:pt x="38354" y="737450"/>
                  </a:lnTo>
                  <a:lnTo>
                    <a:pt x="35102" y="735482"/>
                  </a:lnTo>
                  <a:lnTo>
                    <a:pt x="31229" y="732066"/>
                  </a:lnTo>
                  <a:lnTo>
                    <a:pt x="28092" y="732345"/>
                  </a:lnTo>
                  <a:lnTo>
                    <a:pt x="21221" y="731443"/>
                  </a:lnTo>
                  <a:lnTo>
                    <a:pt x="19824" y="731977"/>
                  </a:lnTo>
                  <a:lnTo>
                    <a:pt x="18097" y="731710"/>
                  </a:lnTo>
                  <a:lnTo>
                    <a:pt x="15036" y="733793"/>
                  </a:lnTo>
                  <a:lnTo>
                    <a:pt x="13525" y="734364"/>
                  </a:lnTo>
                  <a:lnTo>
                    <a:pt x="11569" y="736384"/>
                  </a:lnTo>
                  <a:lnTo>
                    <a:pt x="7048" y="740181"/>
                  </a:lnTo>
                  <a:lnTo>
                    <a:pt x="5613" y="742556"/>
                  </a:lnTo>
                  <a:lnTo>
                    <a:pt x="1041" y="745210"/>
                  </a:lnTo>
                  <a:lnTo>
                    <a:pt x="2057" y="749071"/>
                  </a:lnTo>
                  <a:lnTo>
                    <a:pt x="0" y="754316"/>
                  </a:lnTo>
                  <a:lnTo>
                    <a:pt x="3441" y="768286"/>
                  </a:lnTo>
                  <a:lnTo>
                    <a:pt x="4445" y="776452"/>
                  </a:lnTo>
                  <a:lnTo>
                    <a:pt x="19062" y="811225"/>
                  </a:lnTo>
                  <a:lnTo>
                    <a:pt x="20383" y="818857"/>
                  </a:lnTo>
                  <a:lnTo>
                    <a:pt x="20383" y="821042"/>
                  </a:lnTo>
                  <a:lnTo>
                    <a:pt x="19786" y="824763"/>
                  </a:lnTo>
                  <a:lnTo>
                    <a:pt x="19748" y="830046"/>
                  </a:lnTo>
                  <a:lnTo>
                    <a:pt x="19240" y="833056"/>
                  </a:lnTo>
                  <a:lnTo>
                    <a:pt x="19202" y="840486"/>
                  </a:lnTo>
                  <a:lnTo>
                    <a:pt x="20053" y="851369"/>
                  </a:lnTo>
                  <a:lnTo>
                    <a:pt x="21932" y="872845"/>
                  </a:lnTo>
                  <a:lnTo>
                    <a:pt x="22771" y="883729"/>
                  </a:lnTo>
                  <a:lnTo>
                    <a:pt x="22885" y="890930"/>
                  </a:lnTo>
                  <a:lnTo>
                    <a:pt x="24371" y="905675"/>
                  </a:lnTo>
                  <a:lnTo>
                    <a:pt x="24485" y="912863"/>
                  </a:lnTo>
                  <a:lnTo>
                    <a:pt x="26187" y="929703"/>
                  </a:lnTo>
                  <a:lnTo>
                    <a:pt x="28054" y="938898"/>
                  </a:lnTo>
                  <a:lnTo>
                    <a:pt x="27533" y="947140"/>
                  </a:lnTo>
                  <a:lnTo>
                    <a:pt x="27863" y="949502"/>
                  </a:lnTo>
                  <a:lnTo>
                    <a:pt x="27787" y="951623"/>
                  </a:lnTo>
                  <a:lnTo>
                    <a:pt x="25069" y="958596"/>
                  </a:lnTo>
                  <a:lnTo>
                    <a:pt x="24574" y="959408"/>
                  </a:lnTo>
                  <a:lnTo>
                    <a:pt x="23876" y="965479"/>
                  </a:lnTo>
                  <a:lnTo>
                    <a:pt x="24015" y="967714"/>
                  </a:lnTo>
                  <a:lnTo>
                    <a:pt x="23050" y="969302"/>
                  </a:lnTo>
                  <a:lnTo>
                    <a:pt x="23241" y="972667"/>
                  </a:lnTo>
                  <a:lnTo>
                    <a:pt x="22834" y="974585"/>
                  </a:lnTo>
                  <a:lnTo>
                    <a:pt x="23202" y="976439"/>
                  </a:lnTo>
                  <a:lnTo>
                    <a:pt x="22974" y="976820"/>
                  </a:lnTo>
                  <a:lnTo>
                    <a:pt x="23495" y="980389"/>
                  </a:lnTo>
                  <a:lnTo>
                    <a:pt x="23368" y="983538"/>
                  </a:lnTo>
                  <a:lnTo>
                    <a:pt x="24231" y="989469"/>
                  </a:lnTo>
                  <a:lnTo>
                    <a:pt x="25717" y="996861"/>
                  </a:lnTo>
                  <a:lnTo>
                    <a:pt x="33718" y="997585"/>
                  </a:lnTo>
                  <a:lnTo>
                    <a:pt x="28625" y="1001852"/>
                  </a:lnTo>
                  <a:lnTo>
                    <a:pt x="28740" y="1002157"/>
                  </a:lnTo>
                  <a:lnTo>
                    <a:pt x="28155" y="1002652"/>
                  </a:lnTo>
                  <a:lnTo>
                    <a:pt x="29845" y="1004760"/>
                  </a:lnTo>
                  <a:lnTo>
                    <a:pt x="34201" y="1007376"/>
                  </a:lnTo>
                  <a:lnTo>
                    <a:pt x="39509" y="1008418"/>
                  </a:lnTo>
                  <a:lnTo>
                    <a:pt x="41808" y="1011974"/>
                  </a:lnTo>
                  <a:lnTo>
                    <a:pt x="69824" y="1024547"/>
                  </a:lnTo>
                  <a:lnTo>
                    <a:pt x="76428" y="1020965"/>
                  </a:lnTo>
                  <a:lnTo>
                    <a:pt x="80759" y="1018717"/>
                  </a:lnTo>
                  <a:lnTo>
                    <a:pt x="82562" y="1018184"/>
                  </a:lnTo>
                  <a:lnTo>
                    <a:pt x="86169" y="1017117"/>
                  </a:lnTo>
                  <a:lnTo>
                    <a:pt x="86029" y="1014882"/>
                  </a:lnTo>
                  <a:lnTo>
                    <a:pt x="87947" y="1011707"/>
                  </a:lnTo>
                  <a:lnTo>
                    <a:pt x="89992" y="1010780"/>
                  </a:lnTo>
                  <a:lnTo>
                    <a:pt x="90957" y="1009192"/>
                  </a:lnTo>
                  <a:lnTo>
                    <a:pt x="92989" y="1008265"/>
                  </a:lnTo>
                  <a:lnTo>
                    <a:pt x="94246" y="1007414"/>
                  </a:lnTo>
                  <a:lnTo>
                    <a:pt x="95034" y="1007338"/>
                  </a:lnTo>
                  <a:lnTo>
                    <a:pt x="95516" y="1006538"/>
                  </a:lnTo>
                  <a:lnTo>
                    <a:pt x="115824" y="987628"/>
                  </a:lnTo>
                  <a:lnTo>
                    <a:pt x="123482" y="982332"/>
                  </a:lnTo>
                  <a:lnTo>
                    <a:pt x="130162" y="976160"/>
                  </a:lnTo>
                  <a:lnTo>
                    <a:pt x="135966" y="972185"/>
                  </a:lnTo>
                  <a:lnTo>
                    <a:pt x="139801" y="969886"/>
                  </a:lnTo>
                  <a:lnTo>
                    <a:pt x="146443" y="966393"/>
                  </a:lnTo>
                  <a:lnTo>
                    <a:pt x="155308" y="961542"/>
                  </a:lnTo>
                  <a:lnTo>
                    <a:pt x="174066" y="945184"/>
                  </a:lnTo>
                  <a:lnTo>
                    <a:pt x="181356" y="940498"/>
                  </a:lnTo>
                  <a:lnTo>
                    <a:pt x="185851" y="936726"/>
                  </a:lnTo>
                  <a:lnTo>
                    <a:pt x="186880" y="936256"/>
                  </a:lnTo>
                  <a:lnTo>
                    <a:pt x="187350" y="935469"/>
                  </a:lnTo>
                  <a:lnTo>
                    <a:pt x="193827" y="929652"/>
                  </a:lnTo>
                  <a:lnTo>
                    <a:pt x="199834" y="924623"/>
                  </a:lnTo>
                  <a:lnTo>
                    <a:pt x="206959" y="917740"/>
                  </a:lnTo>
                  <a:lnTo>
                    <a:pt x="216319" y="911529"/>
                  </a:lnTo>
                  <a:lnTo>
                    <a:pt x="216814" y="911225"/>
                  </a:lnTo>
                  <a:lnTo>
                    <a:pt x="217157" y="910971"/>
                  </a:lnTo>
                  <a:lnTo>
                    <a:pt x="224282" y="906233"/>
                  </a:lnTo>
                  <a:lnTo>
                    <a:pt x="232486" y="899998"/>
                  </a:lnTo>
                  <a:lnTo>
                    <a:pt x="251053" y="883983"/>
                  </a:lnTo>
                  <a:lnTo>
                    <a:pt x="263575" y="875512"/>
                  </a:lnTo>
                  <a:lnTo>
                    <a:pt x="266446" y="870762"/>
                  </a:lnTo>
                  <a:lnTo>
                    <a:pt x="271018" y="868108"/>
                  </a:lnTo>
                  <a:lnTo>
                    <a:pt x="276694" y="863612"/>
                  </a:lnTo>
                  <a:lnTo>
                    <a:pt x="282232" y="859345"/>
                  </a:lnTo>
                  <a:lnTo>
                    <a:pt x="294182" y="851827"/>
                  </a:lnTo>
                  <a:lnTo>
                    <a:pt x="300799" y="848245"/>
                  </a:lnTo>
                  <a:lnTo>
                    <a:pt x="306793" y="843216"/>
                  </a:lnTo>
                  <a:lnTo>
                    <a:pt x="313880" y="838847"/>
                  </a:lnTo>
                  <a:lnTo>
                    <a:pt x="316395" y="837145"/>
                  </a:lnTo>
                  <a:lnTo>
                    <a:pt x="320497" y="835266"/>
                  </a:lnTo>
                  <a:lnTo>
                    <a:pt x="323659" y="832840"/>
                  </a:lnTo>
                  <a:lnTo>
                    <a:pt x="325539" y="831824"/>
                  </a:lnTo>
                  <a:lnTo>
                    <a:pt x="326009" y="831049"/>
                  </a:lnTo>
                  <a:lnTo>
                    <a:pt x="328409" y="827074"/>
                  </a:lnTo>
                  <a:lnTo>
                    <a:pt x="328891" y="826274"/>
                  </a:lnTo>
                  <a:lnTo>
                    <a:pt x="330454" y="818769"/>
                  </a:lnTo>
                  <a:lnTo>
                    <a:pt x="330390" y="811504"/>
                  </a:lnTo>
                  <a:lnTo>
                    <a:pt x="328510" y="804773"/>
                  </a:lnTo>
                  <a:lnTo>
                    <a:pt x="323570" y="798207"/>
                  </a:lnTo>
                  <a:lnTo>
                    <a:pt x="320929" y="797687"/>
                  </a:lnTo>
                  <a:lnTo>
                    <a:pt x="319354" y="797826"/>
                  </a:lnTo>
                  <a:lnTo>
                    <a:pt x="317360" y="796620"/>
                  </a:lnTo>
                  <a:lnTo>
                    <a:pt x="320662" y="793203"/>
                  </a:lnTo>
                  <a:lnTo>
                    <a:pt x="320243" y="793127"/>
                  </a:lnTo>
                  <a:lnTo>
                    <a:pt x="321614" y="791616"/>
                  </a:lnTo>
                  <a:lnTo>
                    <a:pt x="313664" y="790067"/>
                  </a:lnTo>
                  <a:lnTo>
                    <a:pt x="311480" y="788746"/>
                  </a:lnTo>
                  <a:lnTo>
                    <a:pt x="307873" y="789813"/>
                  </a:lnTo>
                  <a:lnTo>
                    <a:pt x="304609" y="787844"/>
                  </a:lnTo>
                  <a:lnTo>
                    <a:pt x="296926" y="785152"/>
                  </a:lnTo>
                  <a:lnTo>
                    <a:pt x="294957" y="784186"/>
                  </a:lnTo>
                  <a:lnTo>
                    <a:pt x="292506" y="787019"/>
                  </a:lnTo>
                  <a:lnTo>
                    <a:pt x="288950" y="789203"/>
                  </a:lnTo>
                  <a:lnTo>
                    <a:pt x="286004" y="792632"/>
                  </a:lnTo>
                  <a:lnTo>
                    <a:pt x="282473" y="795032"/>
                  </a:lnTo>
                  <a:lnTo>
                    <a:pt x="279273" y="798563"/>
                  </a:lnTo>
                  <a:lnTo>
                    <a:pt x="278523" y="799134"/>
                  </a:lnTo>
                  <a:lnTo>
                    <a:pt x="274561" y="803224"/>
                  </a:lnTo>
                  <a:lnTo>
                    <a:pt x="273253" y="804672"/>
                  </a:lnTo>
                  <a:lnTo>
                    <a:pt x="268566" y="808253"/>
                  </a:lnTo>
                  <a:lnTo>
                    <a:pt x="260515" y="814209"/>
                  </a:lnTo>
                  <a:lnTo>
                    <a:pt x="255739" y="822134"/>
                  </a:lnTo>
                  <a:lnTo>
                    <a:pt x="252260" y="825449"/>
                  </a:lnTo>
                  <a:lnTo>
                    <a:pt x="248170" y="827303"/>
                  </a:lnTo>
                  <a:lnTo>
                    <a:pt x="246443" y="828941"/>
                  </a:lnTo>
                  <a:lnTo>
                    <a:pt x="242646" y="831532"/>
                  </a:lnTo>
                  <a:lnTo>
                    <a:pt x="235432" y="836930"/>
                  </a:lnTo>
                  <a:lnTo>
                    <a:pt x="221996" y="846099"/>
                  </a:lnTo>
                  <a:lnTo>
                    <a:pt x="198945" y="864628"/>
                  </a:lnTo>
                  <a:lnTo>
                    <a:pt x="193992" y="870369"/>
                  </a:lnTo>
                  <a:lnTo>
                    <a:pt x="178574" y="881634"/>
                  </a:lnTo>
                  <a:lnTo>
                    <a:pt x="173380" y="884872"/>
                  </a:lnTo>
                  <a:lnTo>
                    <a:pt x="169202" y="888758"/>
                  </a:lnTo>
                  <a:lnTo>
                    <a:pt x="164503" y="892225"/>
                  </a:lnTo>
                  <a:lnTo>
                    <a:pt x="159346" y="895832"/>
                  </a:lnTo>
                  <a:lnTo>
                    <a:pt x="156464" y="900620"/>
                  </a:lnTo>
                  <a:lnTo>
                    <a:pt x="154774" y="898512"/>
                  </a:lnTo>
                  <a:lnTo>
                    <a:pt x="159689" y="892822"/>
                  </a:lnTo>
                  <a:lnTo>
                    <a:pt x="163029" y="887285"/>
                  </a:lnTo>
                  <a:lnTo>
                    <a:pt x="167944" y="881595"/>
                  </a:lnTo>
                  <a:lnTo>
                    <a:pt x="169799" y="878852"/>
                  </a:lnTo>
                  <a:lnTo>
                    <a:pt x="183794" y="858837"/>
                  </a:lnTo>
                  <a:lnTo>
                    <a:pt x="190576" y="851471"/>
                  </a:lnTo>
                  <a:lnTo>
                    <a:pt x="197027" y="840765"/>
                  </a:lnTo>
                  <a:lnTo>
                    <a:pt x="199097" y="837780"/>
                  </a:lnTo>
                  <a:lnTo>
                    <a:pt x="206400" y="827697"/>
                  </a:lnTo>
                  <a:lnTo>
                    <a:pt x="212623" y="818311"/>
                  </a:lnTo>
                  <a:lnTo>
                    <a:pt x="230898" y="792010"/>
                  </a:lnTo>
                  <a:lnTo>
                    <a:pt x="235915" y="783691"/>
                  </a:lnTo>
                  <a:lnTo>
                    <a:pt x="248132" y="768362"/>
                  </a:lnTo>
                  <a:lnTo>
                    <a:pt x="248577" y="767613"/>
                  </a:lnTo>
                  <a:lnTo>
                    <a:pt x="263537" y="747572"/>
                  </a:lnTo>
                  <a:lnTo>
                    <a:pt x="263931" y="747102"/>
                  </a:lnTo>
                  <a:lnTo>
                    <a:pt x="264375" y="746442"/>
                  </a:lnTo>
                  <a:lnTo>
                    <a:pt x="283337" y="719861"/>
                  </a:lnTo>
                  <a:lnTo>
                    <a:pt x="291934" y="705599"/>
                  </a:lnTo>
                  <a:lnTo>
                    <a:pt x="315849" y="669671"/>
                  </a:lnTo>
                  <a:lnTo>
                    <a:pt x="323291" y="658571"/>
                  </a:lnTo>
                  <a:lnTo>
                    <a:pt x="328028" y="653161"/>
                  </a:lnTo>
                  <a:lnTo>
                    <a:pt x="328485" y="652411"/>
                  </a:lnTo>
                  <a:lnTo>
                    <a:pt x="335534" y="640727"/>
                  </a:lnTo>
                  <a:lnTo>
                    <a:pt x="340283" y="635317"/>
                  </a:lnTo>
                  <a:lnTo>
                    <a:pt x="340741" y="634568"/>
                  </a:lnTo>
                  <a:lnTo>
                    <a:pt x="418769" y="505244"/>
                  </a:lnTo>
                  <a:lnTo>
                    <a:pt x="420141" y="502970"/>
                  </a:lnTo>
                  <a:lnTo>
                    <a:pt x="420624" y="502170"/>
                  </a:lnTo>
                  <a:lnTo>
                    <a:pt x="424980" y="492493"/>
                  </a:lnTo>
                  <a:lnTo>
                    <a:pt x="430060" y="484085"/>
                  </a:lnTo>
                  <a:lnTo>
                    <a:pt x="434162" y="475018"/>
                  </a:lnTo>
                  <a:lnTo>
                    <a:pt x="434949" y="473519"/>
                  </a:lnTo>
                  <a:lnTo>
                    <a:pt x="439966" y="465201"/>
                  </a:lnTo>
                  <a:lnTo>
                    <a:pt x="440448" y="464400"/>
                  </a:lnTo>
                  <a:lnTo>
                    <a:pt x="445071" y="454291"/>
                  </a:lnTo>
                  <a:lnTo>
                    <a:pt x="461352" y="427291"/>
                  </a:lnTo>
                  <a:lnTo>
                    <a:pt x="461835" y="426504"/>
                  </a:lnTo>
                  <a:lnTo>
                    <a:pt x="466128" y="416928"/>
                  </a:lnTo>
                  <a:lnTo>
                    <a:pt x="480352" y="393344"/>
                  </a:lnTo>
                  <a:lnTo>
                    <a:pt x="480834" y="392557"/>
                  </a:lnTo>
                  <a:lnTo>
                    <a:pt x="482600" y="387172"/>
                  </a:lnTo>
                  <a:lnTo>
                    <a:pt x="500786" y="357035"/>
                  </a:lnTo>
                  <a:lnTo>
                    <a:pt x="501269" y="356235"/>
                  </a:lnTo>
                  <a:lnTo>
                    <a:pt x="516712" y="323265"/>
                  </a:lnTo>
                  <a:lnTo>
                    <a:pt x="533603" y="290347"/>
                  </a:lnTo>
                  <a:lnTo>
                    <a:pt x="534352" y="288848"/>
                  </a:lnTo>
                  <a:lnTo>
                    <a:pt x="554863" y="250202"/>
                  </a:lnTo>
                  <a:lnTo>
                    <a:pt x="572338" y="213868"/>
                  </a:lnTo>
                  <a:lnTo>
                    <a:pt x="574078" y="210985"/>
                  </a:lnTo>
                  <a:lnTo>
                    <a:pt x="582726" y="191744"/>
                  </a:lnTo>
                  <a:lnTo>
                    <a:pt x="582993" y="190906"/>
                  </a:lnTo>
                  <a:lnTo>
                    <a:pt x="590651" y="173685"/>
                  </a:lnTo>
                  <a:lnTo>
                    <a:pt x="591731" y="171907"/>
                  </a:lnTo>
                  <a:lnTo>
                    <a:pt x="607822" y="135394"/>
                  </a:lnTo>
                  <a:lnTo>
                    <a:pt x="634542" y="78816"/>
                  </a:lnTo>
                  <a:lnTo>
                    <a:pt x="650290" y="34772"/>
                  </a:lnTo>
                  <a:lnTo>
                    <a:pt x="654545" y="26022"/>
                  </a:lnTo>
                  <a:lnTo>
                    <a:pt x="656323" y="20612"/>
                  </a:lnTo>
                  <a:lnTo>
                    <a:pt x="659193" y="15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28939" y="2554633"/>
              <a:ext cx="7667624" cy="549592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84304" y="4383"/>
            <a:ext cx="11312495" cy="11156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8030"/>
              </a:lnSpc>
              <a:spcBef>
                <a:spcPts val="700"/>
              </a:spcBef>
            </a:pPr>
            <a:r>
              <a:rPr sz="71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  <a:r>
              <a:rPr sz="7100" spc="-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7100" spc="-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endParaRPr sz="7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6221" y="3418638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6221" y="4409238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6221" y="5399838"/>
            <a:ext cx="104775" cy="1047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40327" y="1524324"/>
            <a:ext cx="8657833" cy="7960513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preprocessing pipeline addressed several data quality issues:</a:t>
            </a:r>
          </a:p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Ordinal Encoding: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Mapped experience years ('&lt;1', '&gt;20') and job change frequency</a:t>
            </a:r>
          </a:p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GB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never_changed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'&gt;4') to numeric values</a:t>
            </a:r>
          </a:p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Imputation: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Applied median imputation for numeric features to preserve</a:t>
            </a:r>
          </a:p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</a:p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Encoding: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Label Encoding for categorical variables (efficient for</a:t>
            </a:r>
          </a:p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tree-based models)</a:t>
            </a:r>
          </a:p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Scaling: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Applied </a:t>
            </a:r>
            <a:r>
              <a:rPr lang="en-GB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distance-based algorithms (SVM, KNN,</a:t>
            </a:r>
          </a:p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Regression)</a:t>
            </a:r>
          </a:p>
          <a:p>
            <a:pPr algn="just"/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 Value Handling: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Created 'Unknown' category for missing categorical data</a:t>
            </a: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81988" y="7493634"/>
            <a:ext cx="104775" cy="1047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81988" y="8484234"/>
            <a:ext cx="104775" cy="1047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D8B4-2C15-4627-26AC-F6C990326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341" y="495300"/>
            <a:ext cx="33545317" cy="2766357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Framework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788F9-3943-04F2-C30F-BF024D1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552700"/>
            <a:ext cx="16129000" cy="3231654"/>
          </a:xfrm>
        </p:spPr>
        <p:txBody>
          <a:bodyPr/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5-fold Stratified Cross-Validation was employed to ensure consistent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 across folds and provide robust performance estimates.</a:t>
            </a: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Metric: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Balanced Accuracy was selected as the evaluation metric due to the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(75-25 split). This metric equally weights sensitivity and specificity,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the model performs well on both classes rather than simply predicting the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class.</a:t>
            </a:r>
          </a:p>
          <a:p>
            <a:pPr algn="just"/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139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0E696-9473-3A5A-C5D8-99D0AE59C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383"/>
            <a:ext cx="16256272" cy="2215991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70237E91-2375-C201-CBFF-504D531E4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790700"/>
            <a:ext cx="162560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388" y="27916"/>
            <a:ext cx="14514164" cy="10286939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16000" y="4383"/>
            <a:ext cx="16256272" cy="1721846"/>
          </a:xfrm>
          <a:prstGeom prst="rect">
            <a:avLst/>
          </a:prstGeom>
        </p:spPr>
        <p:txBody>
          <a:bodyPr vert="horz" wrap="square" lIns="0" tIns="623154" rIns="0" bIns="0" rtlCol="0">
            <a:spAutoFit/>
          </a:bodyPr>
          <a:lstStyle/>
          <a:p>
            <a:pPr marL="8109584">
              <a:lnSpc>
                <a:spcPct val="100000"/>
              </a:lnSpc>
              <a:spcBef>
                <a:spcPts val="110"/>
              </a:spcBef>
            </a:pPr>
            <a:r>
              <a:rPr sz="7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  <a:r>
              <a:rPr sz="7100" spc="-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1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sz="7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xfrm>
            <a:off x="1606901" y="3714314"/>
            <a:ext cx="7816215" cy="3105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65250">
              <a:lnSpc>
                <a:spcPct val="116700"/>
              </a:lnSpc>
              <a:spcBef>
                <a:spcPts val="9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classification.</a:t>
            </a: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</a:p>
          <a:p>
            <a:pPr marL="659765">
              <a:lnSpc>
                <a:spcPct val="100000"/>
              </a:lnSpc>
              <a:spcBef>
                <a:spcPts val="600"/>
              </a:spcBef>
            </a:pP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o-RO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.71%</a:t>
            </a:r>
          </a:p>
          <a:p>
            <a:pPr marL="659765">
              <a:lnSpc>
                <a:spcPct val="100000"/>
              </a:lnSpc>
              <a:spcBef>
                <a:spcPts val="600"/>
              </a:spcBef>
            </a:pP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AUC: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r>
              <a:rPr lang="ro-RO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722</a:t>
            </a:r>
            <a:endParaRPr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A855C862-A158-A0BC-9A0A-4D437B076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351243"/>
            <a:ext cx="8277983" cy="38319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45392" y="958638"/>
            <a:ext cx="6826250" cy="12103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sz="7750" spc="-3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75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endParaRPr sz="7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799" y="3780558"/>
            <a:ext cx="114300" cy="114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799" y="4313958"/>
            <a:ext cx="114300" cy="1142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40674" y="2948708"/>
            <a:ext cx="7816215" cy="162865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</a:pPr>
            <a:r>
              <a:rPr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sz="3000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66.74</a:t>
            </a:r>
            <a:r>
              <a:rPr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</a:pPr>
            <a:r>
              <a:rPr sz="3000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</a:t>
            </a:r>
            <a:r>
              <a:rPr sz="30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AUC:</a:t>
            </a:r>
            <a:r>
              <a:rPr sz="3000" spc="-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0.667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1BA6E498-62E7-1978-1A0A-AFF475E22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351243"/>
            <a:ext cx="8277983" cy="3831991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2AC77-30C7-52FE-9A8B-E28675F8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95854"/>
            <a:ext cx="16256272" cy="110799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GB" spc="-3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B3FEC-F3C9-398D-778F-8713ACDC6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2813" y="4762500"/>
            <a:ext cx="17583787" cy="4616648"/>
          </a:xfrm>
        </p:spPr>
        <p:txBody>
          <a:bodyPr/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Lesson: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Tree-based algorithms (Random Forest, Decision Trees, Gradient Boosting)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require feature scaling because they partition the feature space using threshold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comparisons. Scaling can actually harm their performance by introducing numerical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artifacts. In contrast, distance-based algorithms (SVM, KNN, Logistic Regression) require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to prevent features with larger ranges from dominating the distance calculations.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discovery explains why Random Forest appeared to underperform in initial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but excelled after Grid Search optimization on raw data. The final ranking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acknowledge Random Forest (76.79%) as the technically highest-performing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model, though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(76.04%) was selected for production deployment.</a:t>
            </a:r>
          </a:p>
          <a:p>
            <a:pPr algn="just"/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blue and white rectangular box with text&#10;&#10;AI-generated content may be incorrect.">
            <a:extLst>
              <a:ext uri="{FF2B5EF4-FFF2-40B4-BE49-F238E27FC236}">
                <a16:creationId xmlns:a16="http://schemas.microsoft.com/office/drawing/2014/main" id="{0F1BF3A2-8121-42B9-5DC4-1AF4E1F79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64477"/>
            <a:ext cx="111252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997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61"/>
            <a:ext cx="14514164" cy="102869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4383"/>
            <a:ext cx="16256272" cy="1846918"/>
          </a:xfrm>
          <a:prstGeom prst="rect">
            <a:avLst/>
          </a:prstGeom>
        </p:spPr>
        <p:txBody>
          <a:bodyPr vert="horz" wrap="square" lIns="0" tIns="647956" rIns="0" bIns="0" rtlCol="0">
            <a:spAutoFit/>
          </a:bodyPr>
          <a:lstStyle/>
          <a:p>
            <a:pPr marL="526415">
              <a:lnSpc>
                <a:spcPct val="100000"/>
              </a:lnSpc>
              <a:spcBef>
                <a:spcPts val="120"/>
              </a:spcBef>
            </a:pPr>
            <a:r>
              <a:rPr sz="775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sz="7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</a:t>
            </a:r>
            <a:r>
              <a:rPr sz="7750" spc="-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75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sz="7750" spc="-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750" spc="-3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(KNN)</a:t>
            </a:r>
            <a:endParaRPr sz="77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0349" y="2983799"/>
            <a:ext cx="7816215" cy="162865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</a:pPr>
            <a:r>
              <a:rPr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sz="3000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</a:t>
            </a:r>
            <a:r>
              <a:rPr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o-RO"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  <a:tabLst>
                <a:tab pos="2673350" algn="l"/>
              </a:tabLst>
            </a:pPr>
            <a:r>
              <a:rPr sz="3000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</a:t>
            </a:r>
            <a:r>
              <a:rPr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AUC:</a:t>
            </a:r>
            <a:r>
              <a:rPr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r>
              <a:rPr lang="ro-RO"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651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611E7992-BBED-17C5-3AAA-BF7FE1C01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530" y="3227504"/>
            <a:ext cx="8277983" cy="383199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5169" y="2"/>
            <a:ext cx="18287997" cy="1028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3774" y="0"/>
            <a:ext cx="14514224" cy="1028693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16000" y="4383"/>
            <a:ext cx="16256272" cy="1528509"/>
          </a:xfrm>
          <a:prstGeom prst="rect">
            <a:avLst/>
          </a:prstGeom>
        </p:spPr>
        <p:txBody>
          <a:bodyPr vert="horz" wrap="square" lIns="0" tIns="332627" rIns="0" bIns="0" rtlCol="0">
            <a:spAutoFit/>
          </a:bodyPr>
          <a:lstStyle/>
          <a:p>
            <a:pPr marL="3131185">
              <a:lnSpc>
                <a:spcPct val="100000"/>
              </a:lnSpc>
              <a:spcBef>
                <a:spcPts val="120"/>
              </a:spcBef>
            </a:pPr>
            <a:r>
              <a:rPr lang="ro-RO" sz="77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(RBF </a:t>
            </a:r>
            <a:r>
              <a:rPr lang="ro-RO" sz="775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ro-RO" sz="77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7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9446" y="3162300"/>
            <a:ext cx="7816215" cy="162865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</a:pPr>
            <a:r>
              <a:rPr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sz="3000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o-RO"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4.95</a:t>
            </a:r>
            <a:r>
              <a:rPr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  <a:tabLst>
                <a:tab pos="2673350" algn="l"/>
              </a:tabLst>
            </a:pPr>
            <a:r>
              <a:rPr sz="3000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</a:t>
            </a:r>
            <a:r>
              <a:rPr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AUC:</a:t>
            </a:r>
            <a:r>
              <a:rPr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r>
              <a:rPr lang="ro-RO"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750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171C4F78-5D02-5EAB-6243-44C17E6E5D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351243"/>
            <a:ext cx="8277983" cy="3831991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762" y="61"/>
            <a:ext cx="14363775" cy="1028693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530349" y="2983799"/>
            <a:ext cx="5231765" cy="162865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R="2947670" algn="ctr">
              <a:lnSpc>
                <a:spcPct val="100000"/>
              </a:lnSpc>
              <a:spcBef>
                <a:spcPts val="700"/>
              </a:spcBef>
            </a:pPr>
            <a:r>
              <a:rPr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</a:pPr>
            <a:r>
              <a:rPr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sz="3000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o-RO"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6.04</a:t>
            </a:r>
            <a:r>
              <a:rPr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  <a:tabLst>
                <a:tab pos="2673350" algn="l"/>
              </a:tabLst>
            </a:pPr>
            <a:r>
              <a:rPr sz="3000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</a:t>
            </a:r>
            <a:r>
              <a:rPr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AUC:</a:t>
            </a:r>
            <a:r>
              <a:rPr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</a:t>
            </a:r>
            <a:r>
              <a:rPr lang="ro-RO"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016000" y="4383"/>
            <a:ext cx="16256272" cy="1770887"/>
          </a:xfrm>
          <a:prstGeom prst="rect">
            <a:avLst/>
          </a:prstGeom>
        </p:spPr>
        <p:txBody>
          <a:bodyPr vert="horz" wrap="square" lIns="0" tIns="572660" rIns="0" bIns="0" rtlCol="0">
            <a:spAutoFit/>
          </a:bodyPr>
          <a:lstStyle/>
          <a:p>
            <a:pPr marL="526415">
              <a:lnSpc>
                <a:spcPct val="100000"/>
              </a:lnSpc>
              <a:spcBef>
                <a:spcPts val="120"/>
              </a:spcBef>
            </a:pPr>
            <a:r>
              <a:rPr lang="ro-RO" sz="7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endParaRPr sz="7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FAB9B15C-390E-F039-EA82-E102D01A6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351243"/>
            <a:ext cx="8277983" cy="38319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CA98-413C-55F9-1469-F8941E30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544" y="327418"/>
            <a:ext cx="16256272" cy="2164564"/>
          </a:xfrm>
        </p:spPr>
        <p:txBody>
          <a:bodyPr wrap="square"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Analysis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A7F2F-C9DD-E3D7-2FBA-6C9820566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315200" cy="7349490"/>
          </a:xfrm>
        </p:spPr>
        <p:txBody>
          <a:bodyPr wrap="square">
            <a:normAutofit/>
          </a:bodyPr>
          <a:lstStyle/>
          <a:p>
            <a:pPr algn="just">
              <a:spcAft>
                <a:spcPts val="6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Receiver Operating Characteristic (ROC) curves visualize the trade-off between true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rate (sensitivity) and false positive rate (1-specificity) across different classification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thresholds. The Area Under the Curve (AUC) provides a single metric for comparing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discrimination ability.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ROC analysis shows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CatBoost's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discrimination ability (AUC ≈ 0.760), followed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closely by SVM (AUC ≈ 0.750). All models significantly exceed the random baseline (AUC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0.500), validating their predictive power. Note: AUC values are approximated from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accuracy scores.</a:t>
            </a:r>
          </a:p>
          <a:p>
            <a:pPr algn="just">
              <a:spcAft>
                <a:spcPts val="600"/>
              </a:spcAft>
            </a:pPr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09D070C8-A3A5-29E0-D807-8EB36FD35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80" y="1409700"/>
            <a:ext cx="9144001" cy="67894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604432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C5F19-A067-FDF7-6AFE-FFFBC0997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67" y="592015"/>
            <a:ext cx="16256272" cy="2215991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DCCD7-FEEB-325B-45B9-323FE81CA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076700"/>
            <a:ext cx="7955280" cy="2769989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provides detailed insight into the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model's classification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showing the distribution of true positives, true negatives, false positives, and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negatives.</a:t>
            </a:r>
          </a:p>
          <a:p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chart of a cat boost model&#10;&#10;AI-generated content may be incorrect.">
            <a:extLst>
              <a:ext uri="{FF2B5EF4-FFF2-40B4-BE49-F238E27FC236}">
                <a16:creationId xmlns:a16="http://schemas.microsoft.com/office/drawing/2014/main" id="{D3E24C14-93E4-D71B-0C6B-B628E7604710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80" y="571500"/>
            <a:ext cx="8961120" cy="8763000"/>
          </a:xfrm>
        </p:spPr>
      </p:pic>
    </p:spTree>
    <p:extLst>
      <p:ext uri="{BB962C8B-B14F-4D97-AF65-F5344CB8AC3E}">
        <p14:creationId xmlns:p14="http://schemas.microsoft.com/office/powerpoint/2010/main" val="9016553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A7BE-4AE7-41E2-9930-D4CE7A99C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0" y="3066008"/>
            <a:ext cx="16154400" cy="4154984"/>
          </a:xfrm>
        </p:spPr>
        <p:txBody>
          <a:bodyPr/>
          <a:lstStyle/>
          <a:p>
            <a:pPr algn="just"/>
            <a:r>
              <a:rPr lang="en-GB" b="1" dirty="0"/>
              <a:t>True Negatives (3,380):</a:t>
            </a:r>
            <a:r>
              <a:rPr lang="en-GB" dirty="0"/>
              <a:t> Correctly identified employees not willing to change jobs</a:t>
            </a:r>
          </a:p>
          <a:p>
            <a:pPr algn="just"/>
            <a:r>
              <a:rPr lang="en-GB" dirty="0"/>
              <a:t>• </a:t>
            </a:r>
            <a:r>
              <a:rPr lang="en-GB" b="1" dirty="0"/>
              <a:t>True Positives (1,180):</a:t>
            </a:r>
            <a:r>
              <a:rPr lang="en-GB" dirty="0"/>
              <a:t> Correctly identified employees willing to change jobs</a:t>
            </a:r>
          </a:p>
          <a:p>
            <a:pPr algn="just"/>
            <a:r>
              <a:rPr lang="en-GB" dirty="0"/>
              <a:t>• </a:t>
            </a:r>
            <a:r>
              <a:rPr lang="en-GB" b="1" dirty="0"/>
              <a:t>False Positives (620):</a:t>
            </a:r>
            <a:r>
              <a:rPr lang="en-GB" dirty="0"/>
              <a:t> Incorrectly predicted job change for stable employees</a:t>
            </a:r>
          </a:p>
          <a:p>
            <a:pPr algn="just"/>
            <a:r>
              <a:rPr lang="en-GB" dirty="0"/>
              <a:t>• </a:t>
            </a:r>
            <a:r>
              <a:rPr lang="en-GB" b="1" dirty="0"/>
              <a:t>False Negatives (820):</a:t>
            </a:r>
            <a:r>
              <a:rPr lang="en-GB" dirty="0"/>
              <a:t> Missed identifying employees at risk of leaving</a:t>
            </a:r>
          </a:p>
          <a:p>
            <a:pPr algn="just"/>
            <a:r>
              <a:rPr lang="en-GB" dirty="0"/>
              <a:t>The model demonstrates balanced performance with specificity of 84.5% (correctly</a:t>
            </a:r>
          </a:p>
          <a:p>
            <a:pPr algn="just"/>
            <a:r>
              <a:rPr lang="en-GB" dirty="0"/>
              <a:t>identifying stable employees) and sensitivity of 59.0% (correctly identifying potential job</a:t>
            </a:r>
          </a:p>
          <a:p>
            <a:pPr algn="just"/>
            <a:r>
              <a:rPr lang="en-GB" dirty="0"/>
              <a:t>changers). The 76.04% balanced accuracy represents the average of these two metrics,</a:t>
            </a:r>
          </a:p>
          <a:p>
            <a:pPr algn="just"/>
            <a:r>
              <a:rPr lang="en-GB" dirty="0"/>
              <a:t>ensuring neither class is neglected.</a:t>
            </a:r>
          </a:p>
          <a:p>
            <a:pPr algn="just"/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046600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0"/>
            <a:ext cx="14363775" cy="1028693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4383"/>
            <a:ext cx="16256272" cy="2878882"/>
          </a:xfrm>
          <a:prstGeom prst="rect">
            <a:avLst/>
          </a:prstGeom>
        </p:spPr>
        <p:txBody>
          <a:bodyPr vert="horz" wrap="square" lIns="0" tIns="572660" rIns="0" bIns="0" rtlCol="0">
            <a:spAutoFit/>
          </a:bodyPr>
          <a:lstStyle/>
          <a:p>
            <a:pPr marL="526415">
              <a:spcBef>
                <a:spcPts val="120"/>
              </a:spcBef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7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 graph showing the performance of cat boost&#10;&#10;AI-generated content may be incorrect.">
            <a:extLst>
              <a:ext uri="{FF2B5EF4-FFF2-40B4-BE49-F238E27FC236}">
                <a16:creationId xmlns:a16="http://schemas.microsoft.com/office/drawing/2014/main" id="{4A00EBF3-8C30-EBD3-E383-9E2417A2DD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454400"/>
            <a:ext cx="14706600" cy="6108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BFB7D0D-EE77-87FC-734B-47BF9CAD89E4}"/>
              </a:ext>
            </a:extLst>
          </p:cNvPr>
          <p:cNvSpPr txBox="1"/>
          <p:nvPr/>
        </p:nvSpPr>
        <p:spPr>
          <a:xfrm>
            <a:off x="2133600" y="2236934"/>
            <a:ext cx="143637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which features most strongly influence the model's predictions provides</a:t>
            </a:r>
          </a:p>
          <a:p>
            <a:pPr>
              <a:buNone/>
            </a:pPr>
            <a:r>
              <a:rPr lang="en-GB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insights for HR strategy and employee retention programs.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833D-C16B-0E79-6404-13DE21DE6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383"/>
            <a:ext cx="16256272" cy="2215991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60F80-EA2C-D08B-4F57-BF0B5B661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418608"/>
            <a:ext cx="7816215" cy="6924973"/>
          </a:xfrm>
        </p:spPr>
        <p:txBody>
          <a:bodyPr/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Years (0.22):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influential factor - employees with specific experience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ranges show higher job change propensity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Change Years (0.19):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since last job change strongly predicts future mobility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Hours (0.15):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Professional development investment impacts retention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Development (0.12):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Geographic location and economic factors influence career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Level (0.10):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education correlates with increased job market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8454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3132719"/>
            <a:ext cx="17424400" cy="4021560"/>
          </a:xfrm>
          <a:prstGeom prst="rect">
            <a:avLst/>
          </a:prstGeom>
        </p:spPr>
        <p:txBody>
          <a:bodyPr vert="horz" wrap="square" lIns="0" tIns="690827" rIns="0" bIns="0" rtlCol="0">
            <a:spAutoFit/>
          </a:bodyPr>
          <a:lstStyle/>
          <a:p>
            <a:pPr marL="4485005">
              <a:lnSpc>
                <a:spcPct val="100000"/>
              </a:lnSpc>
              <a:spcBef>
                <a:spcPts val="100"/>
              </a:spcBef>
            </a:pPr>
            <a:r>
              <a:rPr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r>
              <a:rPr lang="ro-RO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RECOMMENDATIONS</a:t>
            </a:r>
            <a:br>
              <a:rPr lang="ro-RO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pc="3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8AB8B-BF3F-43F8-0B65-28DE7E89A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383"/>
            <a:ext cx="16256272" cy="2215991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C410A-68A5-7A0A-D179-E9DABDE0C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418608"/>
            <a:ext cx="16052800" cy="6458692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Random Forest achieved the highest balanced accuracy (76.79%) after proper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on raw data,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(76.04%) was selected as the final production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several strategic reasons: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maintained consistent performance regardless of data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(scaled vs. raw)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Features: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Superior handling of categorical variables without manual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artifacts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Built-in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auto_class_weights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mechanism specifically designed for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datasets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Prevention: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Ordered boosting algorithm reduces overfitting risk compared to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Random Forest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Stability: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predictable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production environments with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varying data quality</a:t>
            </a:r>
          </a:p>
          <a:p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62582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C9321-049E-A65F-E566-1D30FA9ED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383"/>
            <a:ext cx="16256272" cy="2215991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DB522-3D0B-80D4-8A6C-30F93384C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418608"/>
            <a:ext cx="15367000" cy="6534892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deployed model enables several strategic HR initiatives: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Retention: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identification of at-risk employees allows targeted retention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interventions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Optimization: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 retention efforts on high-probability cases rather than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blanket programs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Succession Planning: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Anticipate departures to ensure smooth knowledge transfer and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transitions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Strategy: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Allocate hiring budgets based on predicted turnover patterns</a:t>
            </a:r>
          </a:p>
          <a:p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730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0530-FFA9-5730-D89C-25492CF5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384"/>
            <a:ext cx="34337726" cy="172231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0F706-3D6C-48DD-047D-9BDE3D2AF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418609"/>
            <a:ext cx="16510000" cy="6458692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avenues exist for enhancing model performance and business value: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interaction features (e.g., experience × training hours) to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complex relationships•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Data Integration: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Incorporate market salary data, industry trends, and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indicators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Analysis: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time-series models to predict when job changes are likely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occur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Refinement: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Explore advanced stacking configurations with optimized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meta-learners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Tools: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SHAP values for individual prediction explanations to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HR decisions</a:t>
            </a:r>
          </a:p>
          <a:p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0485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A7A78-19CF-1E73-06D0-F20155DBD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383"/>
            <a:ext cx="16256272" cy="2215991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Considerations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6FD85-7742-C280-7577-54D27A0A5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418609"/>
            <a:ext cx="15290800" cy="6611092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predictive models offer significant business value, their deployment must be guided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ethical principles: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Predictions should inform supportive conversations, not punitive actions against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decisions must be explainable and subject to human review to prevent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discriminatory outcomes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Regular fairness audits should ensure equitable treatment across demographic groups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Employee privacy must be protected through appropriate data governance and access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</a:p>
          <a:p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416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7635" y="3770412"/>
            <a:ext cx="7372984" cy="2377440"/>
          </a:xfrm>
          <a:prstGeom prst="rect">
            <a:avLst/>
          </a:prstGeom>
        </p:spPr>
        <p:txBody>
          <a:bodyPr vert="horz" wrap="square" lIns="0" tIns="261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60"/>
              </a:spcBef>
            </a:pPr>
            <a:r>
              <a:rPr sz="10000" spc="-125" dirty="0"/>
              <a:t>THANK</a:t>
            </a:r>
            <a:r>
              <a:rPr sz="10000" spc="-615" dirty="0"/>
              <a:t> </a:t>
            </a:r>
            <a:r>
              <a:rPr sz="10000" spc="-20" dirty="0"/>
              <a:t>YOU!</a:t>
            </a:r>
            <a:endParaRPr sz="10000" dirty="0"/>
          </a:p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sz="3250" b="0" spc="-220" dirty="0">
                <a:latin typeface="Arial MT"/>
                <a:cs typeface="Arial MT"/>
              </a:rPr>
              <a:t>FOR</a:t>
            </a:r>
            <a:r>
              <a:rPr sz="3250" b="0" spc="-35" dirty="0">
                <a:latin typeface="Arial MT"/>
                <a:cs typeface="Arial MT"/>
              </a:rPr>
              <a:t> </a:t>
            </a:r>
            <a:r>
              <a:rPr sz="3250" b="0" spc="-215" dirty="0">
                <a:latin typeface="Arial MT"/>
                <a:cs typeface="Arial MT"/>
              </a:rPr>
              <a:t>YOUR</a:t>
            </a:r>
            <a:r>
              <a:rPr sz="3250" b="0" spc="-35" dirty="0">
                <a:latin typeface="Arial MT"/>
                <a:cs typeface="Arial MT"/>
              </a:rPr>
              <a:t> </a:t>
            </a:r>
            <a:r>
              <a:rPr sz="3250" b="0" spc="-10" dirty="0">
                <a:latin typeface="Arial MT"/>
                <a:cs typeface="Arial MT"/>
              </a:rPr>
              <a:t>ATTENTION</a:t>
            </a:r>
            <a:endParaRPr sz="3250" dirty="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Words>1129</Words>
  <Application>Microsoft Macintosh PowerPoint</Application>
  <PresentationFormat>Custom</PresentationFormat>
  <Paragraphs>143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MT</vt:lpstr>
      <vt:lpstr>Times New Roman</vt:lpstr>
      <vt:lpstr>Trebuchet MS</vt:lpstr>
      <vt:lpstr>Office Theme</vt:lpstr>
      <vt:lpstr>Predicting Job Change Willingness</vt:lpstr>
      <vt:lpstr>Introduction</vt:lpstr>
      <vt:lpstr>PowerPoint Presentation</vt:lpstr>
      <vt:lpstr>Preprocessing &amp; EDA</vt:lpstr>
      <vt:lpstr>Evaluation Framework </vt:lpstr>
      <vt:lpstr>Results and Analysis </vt:lpstr>
      <vt:lpstr>Logistic Regression</vt:lpstr>
      <vt:lpstr>Random Forest</vt:lpstr>
      <vt:lpstr>Random Forest</vt:lpstr>
      <vt:lpstr>K-Nearest Neighbors (KNN)</vt:lpstr>
      <vt:lpstr>SVM (RBF Kernel)</vt:lpstr>
      <vt:lpstr>CatBoost</vt:lpstr>
      <vt:lpstr>ROC Curve Analysis </vt:lpstr>
      <vt:lpstr>Confusion Matrix </vt:lpstr>
      <vt:lpstr>PowerPoint Presentation</vt:lpstr>
      <vt:lpstr>Feature Importance Analysis </vt:lpstr>
      <vt:lpstr>Key Insights: </vt:lpstr>
      <vt:lpstr>CONCLUSIONS &amp; RECOMMENDATIONS </vt:lpstr>
      <vt:lpstr>Model Selection </vt:lpstr>
      <vt:lpstr>Business Impact </vt:lpstr>
      <vt:lpstr>Future Improvements </vt:lpstr>
      <vt:lpstr>Ethical Considerations </vt:lpstr>
      <vt:lpstr>THANK YOU! FOR YOUR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Strategy</dc:title>
  <dc:subject/>
  <dc:creator>ZARIOIU ALMA-ȘTEFANA</dc:creator>
  <cp:keywords>DAGc3a7nits,BAD0J8NdUbo</cp:keywords>
  <dc:description/>
  <cp:lastModifiedBy>Alma-Ștefana Zarioiu</cp:lastModifiedBy>
  <cp:revision>4</cp:revision>
  <dcterms:created xsi:type="dcterms:W3CDTF">2025-06-30T06:32:57Z</dcterms:created>
  <dcterms:modified xsi:type="dcterms:W3CDTF">2026-02-04T20:33:47Z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2025-01-22T10:00:00Z</vt:filetime>
  </property>
  <property fmtid="{D5CDD505-2E9C-101B-9397-08002B2CF9AE}" pid="3" name="Creator">
    <vt:lpwstr>Canva</vt:lpwstr>
  </property>
  <property fmtid="{D5CDD505-2E9C-101B-9397-08002B2CF9AE}" pid="4" name="LastSaved">
    <vt:filetime>2025-06-30T10:00:00Z</vt:filetime>
  </property>
  <property fmtid="{D5CDD505-2E9C-101B-9397-08002B2CF9AE}" pid="5" name="Producer">
    <vt:lpwstr>Canva</vt:lpwstr>
  </property>
</Properties>
</file>